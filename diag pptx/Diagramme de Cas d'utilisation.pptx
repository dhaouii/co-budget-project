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69" d="100"/>
          <a:sy n="69" d="100"/>
        </p:scale>
        <p:origin x="32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388213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78194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3865705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311210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107116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299062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39140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9103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294507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127488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1451003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592A3-340C-6443-94C7-1EB3922C9A74}" type="datetimeFigureOut">
              <a:rPr lang="en-TN" smtClean="0"/>
              <a:t>2/6/2026</a:t>
            </a:fld>
            <a:endParaRPr lang="en-T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8762A-0E85-EE42-906C-3580723AB7C9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403075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" y="1560"/>
            <a:ext cx="7558878" cy="106904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72024" y="66347"/>
            <a:ext cx="3219607" cy="525702"/>
          </a:xfrm>
          <a:prstGeom prst="rect">
            <a:avLst/>
          </a:prstGeom>
        </p:spPr>
        <p:txBody>
          <a:bodyPr vert="horz" wrap="square" lIns="0" tIns="123807" rIns="0" bIns="0" rtlCol="0">
            <a:spAutoFit/>
          </a:bodyPr>
          <a:lstStyle/>
          <a:p>
            <a:pPr algn="ctr">
              <a:spcBef>
                <a:spcPts val="975"/>
              </a:spcBef>
            </a:pPr>
            <a:r>
              <a:rPr sz="1300" dirty="0">
                <a:solidFill>
                  <a:srgbClr val="111826"/>
                </a:solidFill>
                <a:latin typeface="Arial Black"/>
                <a:cs typeface="Arial Black"/>
              </a:rPr>
              <a:t>Diagramme</a:t>
            </a:r>
            <a:r>
              <a:rPr sz="1300" spc="-150" dirty="0">
                <a:solidFill>
                  <a:srgbClr val="111826"/>
                </a:solidFill>
                <a:latin typeface="Arial Black"/>
                <a:cs typeface="Arial Black"/>
              </a:rPr>
              <a:t> </a:t>
            </a:r>
            <a:r>
              <a:rPr sz="1300" spc="-35" dirty="0">
                <a:solidFill>
                  <a:srgbClr val="111826"/>
                </a:solidFill>
                <a:latin typeface="Arial Black"/>
                <a:cs typeface="Arial Black"/>
              </a:rPr>
              <a:t>de</a:t>
            </a:r>
            <a:r>
              <a:rPr sz="1300" spc="-145" dirty="0">
                <a:solidFill>
                  <a:srgbClr val="111826"/>
                </a:solidFill>
                <a:latin typeface="Arial Black"/>
                <a:cs typeface="Arial Black"/>
              </a:rPr>
              <a:t> </a:t>
            </a:r>
            <a:r>
              <a:rPr sz="1300" spc="-35" dirty="0">
                <a:solidFill>
                  <a:srgbClr val="111826"/>
                </a:solidFill>
                <a:latin typeface="Arial Black"/>
                <a:cs typeface="Arial Black"/>
              </a:rPr>
              <a:t>Cas</a:t>
            </a:r>
            <a:r>
              <a:rPr sz="1300" spc="-145" dirty="0">
                <a:solidFill>
                  <a:srgbClr val="111826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111826"/>
                </a:solidFill>
                <a:latin typeface="Arial Black"/>
                <a:cs typeface="Arial Black"/>
              </a:rPr>
              <a:t>d'Utilisation</a:t>
            </a:r>
            <a:endParaRPr sz="1300" dirty="0">
              <a:latin typeface="Arial Black"/>
              <a:cs typeface="Arial Black"/>
            </a:endParaRPr>
          </a:p>
          <a:p>
            <a:pPr algn="ctr">
              <a:spcBef>
                <a:spcPts val="540"/>
              </a:spcBef>
            </a:pPr>
            <a:r>
              <a:rPr sz="80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Application</a:t>
            </a:r>
            <a:r>
              <a:rPr lang="fr-FR" sz="80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80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de Gestion Collaborative de</a:t>
            </a:r>
            <a:r>
              <a:rPr sz="800" spc="15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80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Budget </a:t>
            </a:r>
            <a:r>
              <a:rPr sz="80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Personnel</a:t>
            </a:r>
            <a:endParaRPr sz="8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0176" y="850774"/>
            <a:ext cx="469195" cy="46094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80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Système</a:t>
            </a:r>
            <a:endParaRPr sz="800">
              <a:latin typeface="Lucida Sans Unicode"/>
              <a:cs typeface="Lucida Sans Unicode"/>
            </a:endParaRPr>
          </a:p>
          <a:p>
            <a:pPr marL="20953">
              <a:spcBef>
                <a:spcPts val="690"/>
              </a:spcBef>
            </a:pPr>
            <a:r>
              <a:rPr sz="750" spc="-10" dirty="0">
                <a:solidFill>
                  <a:srgbClr val="0890B1"/>
                </a:solidFill>
                <a:latin typeface="Lucida Sans Unicode"/>
                <a:cs typeface="Lucida Sans Unicode"/>
              </a:rPr>
              <a:t>S'inscrire</a:t>
            </a:r>
            <a:endParaRPr sz="750">
              <a:latin typeface="Lucida Sans Unicode"/>
              <a:cs typeface="Lucida Sans Unicode"/>
            </a:endParaRPr>
          </a:p>
          <a:p>
            <a:pPr marL="30477">
              <a:spcBef>
                <a:spcPts val="10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(Register)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1514" y="1782132"/>
            <a:ext cx="906645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marL="12699">
              <a:spcBef>
                <a:spcPts val="215"/>
              </a:spcBef>
            </a:pPr>
            <a:r>
              <a:rPr sz="750" dirty="0">
                <a:solidFill>
                  <a:srgbClr val="0890B1"/>
                </a:solidFill>
                <a:latin typeface="Lucida Sans Unicode"/>
                <a:cs typeface="Lucida Sans Unicode"/>
              </a:rPr>
              <a:t>Consulter</a:t>
            </a:r>
            <a:r>
              <a:rPr sz="750" spc="95" dirty="0">
                <a:solidFill>
                  <a:srgbClr val="0890B1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0890B1"/>
                </a:solidFill>
                <a:latin typeface="Lucida Sans Unicode"/>
                <a:cs typeface="Lucida Sans Unicode"/>
              </a:rPr>
              <a:t>l'accueil</a:t>
            </a:r>
            <a:endParaRPr sz="750">
              <a:latin typeface="Lucida Sans Unicode"/>
              <a:cs typeface="Lucida Sans Unicode"/>
            </a:endParaRPr>
          </a:p>
          <a:p>
            <a:pPr marL="74288">
              <a:spcBef>
                <a:spcPts val="100"/>
              </a:spcBef>
            </a:pPr>
            <a:r>
              <a:rPr sz="650" dirty="0">
                <a:solidFill>
                  <a:srgbClr val="6B7280"/>
                </a:solidFill>
                <a:latin typeface="Lucida Sans Unicode"/>
                <a:cs typeface="Lucida Sans Unicode"/>
              </a:rPr>
              <a:t>(View</a:t>
            </a:r>
            <a:r>
              <a:rPr sz="650" spc="10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Homepage)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89729" y="2518622"/>
            <a:ext cx="589827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marL="41271">
              <a:spcBef>
                <a:spcPts val="215"/>
              </a:spcBef>
            </a:pPr>
            <a:r>
              <a:rPr sz="750" spc="-10" dirty="0">
                <a:solidFill>
                  <a:srgbClr val="7C3AED"/>
                </a:solidFill>
                <a:latin typeface="Lucida Sans Unicode"/>
                <a:cs typeface="Lucida Sans Unicode"/>
              </a:rPr>
              <a:t>Collaborer</a:t>
            </a:r>
            <a:endParaRPr sz="750">
              <a:latin typeface="Lucida Sans Unicode"/>
              <a:cs typeface="Lucida Sans Unicode"/>
            </a:endParaRPr>
          </a:p>
          <a:p>
            <a:pPr marL="12699">
              <a:spcBef>
                <a:spcPts val="10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(Collaborate)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9749" y="3255113"/>
            <a:ext cx="730142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marL="12699">
              <a:spcBef>
                <a:spcPts val="215"/>
              </a:spcBef>
            </a:pPr>
            <a:r>
              <a:rPr sz="750" dirty="0">
                <a:solidFill>
                  <a:srgbClr val="7C3AED"/>
                </a:solidFill>
                <a:latin typeface="Lucida Sans Unicode"/>
                <a:cs typeface="Lucida Sans Unicode"/>
              </a:rPr>
              <a:t>Gérer</a:t>
            </a:r>
            <a:r>
              <a:rPr sz="750" spc="15" dirty="0">
                <a:solidFill>
                  <a:srgbClr val="7C3AED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7C3AED"/>
                </a:solidFill>
                <a:latin typeface="Lucida Sans Unicode"/>
                <a:cs typeface="Lucida Sans Unicode"/>
              </a:rPr>
              <a:t>les</a:t>
            </a:r>
            <a:r>
              <a:rPr sz="750" spc="15" dirty="0">
                <a:solidFill>
                  <a:srgbClr val="7C3AED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7C3AED"/>
                </a:solidFill>
                <a:latin typeface="Lucida Sans Unicode"/>
                <a:cs typeface="Lucida Sans Unicode"/>
              </a:rPr>
              <a:t>Rôles</a:t>
            </a:r>
            <a:endParaRPr sz="750">
              <a:latin typeface="Lucida Sans Unicode"/>
              <a:cs typeface="Lucida Sans Unicode"/>
            </a:endParaRPr>
          </a:p>
          <a:p>
            <a:pPr marL="36191">
              <a:spcBef>
                <a:spcPts val="100"/>
              </a:spcBef>
            </a:pPr>
            <a:r>
              <a:rPr sz="650" spc="30" dirty="0">
                <a:solidFill>
                  <a:srgbClr val="6B7280"/>
                </a:solidFill>
                <a:latin typeface="Lucida Sans Unicode"/>
                <a:cs typeface="Lucida Sans Unicode"/>
              </a:rPr>
              <a:t>(Manage</a:t>
            </a:r>
            <a:r>
              <a:rPr sz="650" spc="7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Roles)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1085" y="4095141"/>
            <a:ext cx="927597" cy="12822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750" dirty="0">
                <a:solidFill>
                  <a:srgbClr val="7C3AED"/>
                </a:solidFill>
                <a:latin typeface="Lucida Sans Unicode"/>
                <a:cs typeface="Lucida Sans Unicode"/>
              </a:rPr>
              <a:t>Gestion</a:t>
            </a:r>
            <a:r>
              <a:rPr sz="750" spc="45" dirty="0">
                <a:solidFill>
                  <a:srgbClr val="7C3AED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7C3AED"/>
                </a:solidFill>
                <a:latin typeface="Lucida Sans Unicode"/>
                <a:cs typeface="Lucida Sans Unicode"/>
              </a:rPr>
              <a:t>de</a:t>
            </a:r>
            <a:r>
              <a:rPr sz="750" spc="50" dirty="0">
                <a:solidFill>
                  <a:srgbClr val="7C3AED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7C3AED"/>
                </a:solidFill>
                <a:latin typeface="Lucida Sans Unicode"/>
                <a:cs typeface="Lucida Sans Unicode"/>
              </a:rPr>
              <a:t>pannes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7849" y="4728093"/>
            <a:ext cx="993627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algn="ctr">
              <a:spcBef>
                <a:spcPts val="215"/>
              </a:spcBef>
            </a:pPr>
            <a:r>
              <a:rPr sz="750" dirty="0">
                <a:solidFill>
                  <a:srgbClr val="7C3AED"/>
                </a:solidFill>
                <a:latin typeface="Lucida Sans Unicode"/>
                <a:cs typeface="Lucida Sans Unicode"/>
              </a:rPr>
              <a:t>Valider</a:t>
            </a:r>
            <a:r>
              <a:rPr sz="750" spc="50" dirty="0">
                <a:solidFill>
                  <a:srgbClr val="7C3AED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7C3AED"/>
                </a:solidFill>
                <a:latin typeface="Lucida Sans Unicode"/>
                <a:cs typeface="Lucida Sans Unicode"/>
              </a:rPr>
              <a:t>les</a:t>
            </a:r>
            <a:r>
              <a:rPr sz="750" spc="50" dirty="0">
                <a:solidFill>
                  <a:srgbClr val="7C3AED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7C3AED"/>
                </a:solidFill>
                <a:latin typeface="Lucida Sans Unicode"/>
                <a:cs typeface="Lucida Sans Unicode"/>
              </a:rPr>
              <a:t>Comptes</a:t>
            </a:r>
            <a:endParaRPr sz="750">
              <a:latin typeface="Lucida Sans Unicode"/>
              <a:cs typeface="Lucida Sans Unicode"/>
            </a:endParaRPr>
          </a:p>
          <a:p>
            <a:pPr algn="ctr">
              <a:spcBef>
                <a:spcPts val="100"/>
              </a:spcBef>
            </a:pPr>
            <a:r>
              <a:rPr sz="65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(Validate</a:t>
            </a:r>
            <a:r>
              <a:rPr sz="650" spc="12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Accounts)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6509" y="5464584"/>
            <a:ext cx="656493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marL="12699">
              <a:spcBef>
                <a:spcPts val="215"/>
              </a:spcBef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S'authentifier</a:t>
            </a:r>
            <a:endParaRPr sz="750">
              <a:latin typeface="Lucida Sans Unicode"/>
              <a:cs typeface="Lucida Sans Unicode"/>
            </a:endParaRPr>
          </a:p>
          <a:p>
            <a:pPr marL="24128">
              <a:spcBef>
                <a:spcPts val="10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(Authenticate)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7000" y="6201075"/>
            <a:ext cx="715539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marL="40636">
              <a:spcBef>
                <a:spcPts val="215"/>
              </a:spcBef>
            </a:pPr>
            <a:r>
              <a:rPr sz="750" dirty="0">
                <a:solidFill>
                  <a:srgbClr val="2462EB"/>
                </a:solidFill>
                <a:latin typeface="Lucida Sans Unicode"/>
                <a:cs typeface="Lucida Sans Unicode"/>
              </a:rPr>
              <a:t>Gérer</a:t>
            </a:r>
            <a:r>
              <a:rPr sz="750" spc="10" dirty="0">
                <a:solidFill>
                  <a:srgbClr val="2462EB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2462EB"/>
                </a:solidFill>
                <a:latin typeface="Lucida Sans Unicode"/>
                <a:cs typeface="Lucida Sans Unicode"/>
              </a:rPr>
              <a:t>le</a:t>
            </a:r>
            <a:r>
              <a:rPr sz="750" spc="10" dirty="0">
                <a:solidFill>
                  <a:srgbClr val="2462EB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Profil</a:t>
            </a:r>
            <a:endParaRPr sz="750">
              <a:latin typeface="Lucida Sans Unicode"/>
              <a:cs typeface="Lucida Sans Unicode"/>
            </a:endParaRPr>
          </a:p>
          <a:p>
            <a:pPr marL="12699">
              <a:spcBef>
                <a:spcPts val="100"/>
              </a:spcBef>
            </a:pPr>
            <a:r>
              <a:rPr sz="650" spc="30" dirty="0">
                <a:solidFill>
                  <a:srgbClr val="6B7280"/>
                </a:solidFill>
                <a:latin typeface="Lucida Sans Unicode"/>
                <a:cs typeface="Lucida Sans Unicode"/>
              </a:rPr>
              <a:t>(Manage</a:t>
            </a:r>
            <a:r>
              <a:rPr sz="650" spc="7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Profile)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5992" y="6937565"/>
            <a:ext cx="1097752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marL="12699">
              <a:spcBef>
                <a:spcPts val="215"/>
              </a:spcBef>
            </a:pPr>
            <a:r>
              <a:rPr sz="750" dirty="0">
                <a:solidFill>
                  <a:srgbClr val="2462EB"/>
                </a:solidFill>
                <a:latin typeface="Lucida Sans Unicode"/>
                <a:cs typeface="Lucida Sans Unicode"/>
              </a:rPr>
              <a:t>Gérer</a:t>
            </a:r>
            <a:r>
              <a:rPr sz="750" spc="5" dirty="0">
                <a:solidFill>
                  <a:srgbClr val="2462EB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2462EB"/>
                </a:solidFill>
                <a:latin typeface="Lucida Sans Unicode"/>
                <a:cs typeface="Lucida Sans Unicode"/>
              </a:rPr>
              <a:t>les</a:t>
            </a:r>
            <a:r>
              <a:rPr sz="750" spc="15" dirty="0">
                <a:solidFill>
                  <a:srgbClr val="2462EB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Transactions</a:t>
            </a:r>
            <a:endParaRPr sz="750">
              <a:latin typeface="Lucida Sans Unicode"/>
              <a:cs typeface="Lucida Sans Unicode"/>
            </a:endParaRPr>
          </a:p>
          <a:p>
            <a:pPr marL="62224">
              <a:spcBef>
                <a:spcPts val="100"/>
              </a:spcBef>
            </a:pPr>
            <a:r>
              <a:rPr sz="650" spc="30" dirty="0">
                <a:solidFill>
                  <a:srgbClr val="6B7280"/>
                </a:solidFill>
                <a:latin typeface="Lucida Sans Unicode"/>
                <a:cs typeface="Lucida Sans Unicode"/>
              </a:rPr>
              <a:t>(Manage</a:t>
            </a:r>
            <a:r>
              <a:rPr sz="650" spc="7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Transactions)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0899" y="7777595"/>
            <a:ext cx="1307906" cy="12822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750" spc="10" dirty="0">
                <a:solidFill>
                  <a:srgbClr val="2462EB"/>
                </a:solidFill>
                <a:latin typeface="Lucida Sans Unicode"/>
                <a:cs typeface="Lucida Sans Unicode"/>
              </a:rPr>
              <a:t>Consulter</a:t>
            </a:r>
            <a:r>
              <a:rPr sz="750" spc="40" dirty="0">
                <a:solidFill>
                  <a:srgbClr val="2462EB"/>
                </a:solidFill>
                <a:latin typeface="Lucida Sans Unicode"/>
                <a:cs typeface="Lucida Sans Unicode"/>
              </a:rPr>
              <a:t> </a:t>
            </a:r>
            <a:r>
              <a:rPr sz="750" spc="10" dirty="0">
                <a:solidFill>
                  <a:srgbClr val="2462EB"/>
                </a:solidFill>
                <a:latin typeface="Lucida Sans Unicode"/>
                <a:cs typeface="Lucida Sans Unicode"/>
              </a:rPr>
              <a:t>Tableau</a:t>
            </a:r>
            <a:r>
              <a:rPr sz="750" spc="45" dirty="0">
                <a:solidFill>
                  <a:srgbClr val="2462EB"/>
                </a:solidFill>
                <a:latin typeface="Lucida Sans Unicode"/>
                <a:cs typeface="Lucida Sans Unicode"/>
              </a:rPr>
              <a:t> </a:t>
            </a:r>
            <a:r>
              <a:rPr sz="750" spc="10" dirty="0">
                <a:solidFill>
                  <a:srgbClr val="2462EB"/>
                </a:solidFill>
                <a:latin typeface="Lucida Sans Unicode"/>
                <a:cs typeface="Lucida Sans Unicode"/>
              </a:rPr>
              <a:t>de</a:t>
            </a:r>
            <a:r>
              <a:rPr sz="750" spc="45" dirty="0">
                <a:solidFill>
                  <a:srgbClr val="2462EB"/>
                </a:solidFill>
                <a:latin typeface="Lucida Sans Unicode"/>
                <a:cs typeface="Lucida Sans Unicode"/>
              </a:rPr>
              <a:t> </a:t>
            </a:r>
            <a:r>
              <a:rPr sz="750" spc="-20" dirty="0">
                <a:solidFill>
                  <a:srgbClr val="2462EB"/>
                </a:solidFill>
                <a:latin typeface="Lucida Sans Unicode"/>
                <a:cs typeface="Lucida Sans Unicode"/>
              </a:rPr>
              <a:t>bord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9576" y="2622160"/>
            <a:ext cx="1061562" cy="12822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750" dirty="0">
                <a:solidFill>
                  <a:srgbClr val="D87705"/>
                </a:solidFill>
                <a:latin typeface="Lucida Sans Unicode"/>
                <a:cs typeface="Lucida Sans Unicode"/>
              </a:rPr>
              <a:t>Ajouter</a:t>
            </a:r>
            <a:r>
              <a:rPr sz="750" spc="25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87705"/>
                </a:solidFill>
                <a:latin typeface="Lucida Sans Unicode"/>
                <a:cs typeface="Lucida Sans Unicode"/>
              </a:rPr>
              <a:t>des</a:t>
            </a:r>
            <a:r>
              <a:rPr sz="750" spc="25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D87705"/>
                </a:solidFill>
                <a:latin typeface="Lucida Sans Unicode"/>
                <a:cs typeface="Lucida Sans Unicode"/>
              </a:rPr>
              <a:t>membres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66482" y="4831631"/>
            <a:ext cx="1207591" cy="12822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750" spc="10" dirty="0">
                <a:solidFill>
                  <a:srgbClr val="D87705"/>
                </a:solidFill>
                <a:latin typeface="Lucida Sans Unicode"/>
                <a:cs typeface="Lucida Sans Unicode"/>
              </a:rPr>
              <a:t>Envoyer</a:t>
            </a:r>
            <a:r>
              <a:rPr sz="750" spc="45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spc="10" dirty="0">
                <a:solidFill>
                  <a:srgbClr val="D87705"/>
                </a:solidFill>
                <a:latin typeface="Lucida Sans Unicode"/>
                <a:cs typeface="Lucida Sans Unicode"/>
              </a:rPr>
              <a:t>email</a:t>
            </a:r>
            <a:r>
              <a:rPr sz="750" spc="50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D87705"/>
                </a:solidFill>
                <a:latin typeface="Lucida Sans Unicode"/>
                <a:cs typeface="Lucida Sans Unicode"/>
              </a:rPr>
              <a:t>validation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22623" y="7041104"/>
            <a:ext cx="1095847" cy="12822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750" dirty="0">
                <a:solidFill>
                  <a:srgbClr val="D87705"/>
                </a:solidFill>
                <a:latin typeface="Lucida Sans Unicode"/>
                <a:cs typeface="Lucida Sans Unicode"/>
              </a:rPr>
              <a:t>Affecter</a:t>
            </a:r>
            <a:r>
              <a:rPr sz="750" spc="40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87705"/>
                </a:solidFill>
                <a:latin typeface="Lucida Sans Unicode"/>
                <a:cs typeface="Lucida Sans Unicode"/>
              </a:rPr>
              <a:t>une</a:t>
            </a:r>
            <a:r>
              <a:rPr sz="750" spc="45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D87705"/>
                </a:solidFill>
                <a:latin typeface="Lucida Sans Unicode"/>
                <a:cs typeface="Lucida Sans Unicode"/>
              </a:rPr>
              <a:t>catégorie</a:t>
            </a:r>
            <a:endParaRPr sz="750" dirty="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13898" y="2558670"/>
            <a:ext cx="405070" cy="11283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650" spc="-10" dirty="0">
                <a:solidFill>
                  <a:srgbClr val="D87705"/>
                </a:solidFill>
                <a:latin typeface="Lucida Sans Unicode"/>
                <a:cs typeface="Lucida Sans Unicode"/>
              </a:rPr>
              <a:t>«include»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13898" y="4768141"/>
            <a:ext cx="405070" cy="11283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650" spc="-10" dirty="0">
                <a:solidFill>
                  <a:srgbClr val="D87705"/>
                </a:solidFill>
                <a:latin typeface="Lucida Sans Unicode"/>
                <a:cs typeface="Lucida Sans Unicode"/>
              </a:rPr>
              <a:t>«include»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13898" y="6977614"/>
            <a:ext cx="405070" cy="112834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650" spc="-10" dirty="0">
                <a:solidFill>
                  <a:srgbClr val="D87705"/>
                </a:solidFill>
                <a:latin typeface="Lucida Sans Unicode"/>
                <a:cs typeface="Lucida Sans Unicode"/>
              </a:rPr>
              <a:t>«include»</a:t>
            </a:r>
            <a:endParaRPr sz="65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04504" y="8410546"/>
            <a:ext cx="2549781" cy="255801"/>
          </a:xfrm>
          <a:prstGeom prst="rect">
            <a:avLst/>
          </a:prstGeom>
        </p:spPr>
        <p:txBody>
          <a:bodyPr vert="horz" wrap="square" lIns="0" tIns="27301" rIns="0" bIns="0" rtlCol="0">
            <a:spAutoFit/>
          </a:bodyPr>
          <a:lstStyle/>
          <a:p>
            <a:pPr marL="142226">
              <a:spcBef>
                <a:spcPts val="215"/>
              </a:spcBef>
              <a:tabLst>
                <a:tab pos="1243841" algn="l"/>
              </a:tabLst>
            </a:pPr>
            <a:r>
              <a:rPr sz="750" dirty="0">
                <a:solidFill>
                  <a:srgbClr val="059569"/>
                </a:solidFill>
                <a:latin typeface="Lucida Sans Unicode"/>
                <a:cs typeface="Lucida Sans Unicode"/>
              </a:rPr>
              <a:t>Générer</a:t>
            </a:r>
            <a:r>
              <a:rPr sz="750" spc="70" dirty="0">
                <a:solidFill>
                  <a:srgbClr val="059569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059569"/>
                </a:solidFill>
                <a:latin typeface="Lucida Sans Unicode"/>
                <a:cs typeface="Lucida Sans Unicode"/>
              </a:rPr>
              <a:t>une</a:t>
            </a:r>
            <a:r>
              <a:rPr sz="750" spc="75" dirty="0">
                <a:solidFill>
                  <a:srgbClr val="059569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059569"/>
                </a:solidFill>
                <a:latin typeface="Lucida Sans Unicode"/>
                <a:cs typeface="Lucida Sans Unicode"/>
              </a:rPr>
              <a:t>alerte</a:t>
            </a:r>
            <a:r>
              <a:rPr sz="750" dirty="0">
                <a:solidFill>
                  <a:srgbClr val="059569"/>
                </a:solidFill>
                <a:latin typeface="Lucida Sans Unicode"/>
                <a:cs typeface="Lucida Sans Unicode"/>
              </a:rPr>
              <a:t>	</a:t>
            </a:r>
            <a:r>
              <a:rPr sz="975" baseline="-8547" dirty="0">
                <a:solidFill>
                  <a:srgbClr val="D87705"/>
                </a:solidFill>
                <a:latin typeface="Lucida Sans Unicode"/>
                <a:cs typeface="Lucida Sans Unicode"/>
              </a:rPr>
              <a:t>«extend»</a:t>
            </a:r>
            <a:r>
              <a:rPr sz="975" spc="352" baseline="-8547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87705"/>
                </a:solidFill>
                <a:latin typeface="Lucida Sans Unicode"/>
                <a:cs typeface="Lucida Sans Unicode"/>
              </a:rPr>
              <a:t>Gérer</a:t>
            </a:r>
            <a:r>
              <a:rPr sz="750" spc="-30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D87705"/>
                </a:solidFill>
                <a:latin typeface="Lucida Sans Unicode"/>
                <a:cs typeface="Lucida Sans Unicode"/>
              </a:rPr>
              <a:t>les</a:t>
            </a:r>
            <a:r>
              <a:rPr sz="750" spc="-30" dirty="0">
                <a:solidFill>
                  <a:srgbClr val="D87705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D87705"/>
                </a:solidFill>
                <a:latin typeface="Lucida Sans Unicode"/>
                <a:cs typeface="Lucida Sans Unicode"/>
              </a:rPr>
              <a:t>Budgets</a:t>
            </a:r>
            <a:endParaRPr sz="750" dirty="0">
              <a:latin typeface="Lucida Sans Unicode"/>
              <a:cs typeface="Lucida Sans Unicode"/>
            </a:endParaRPr>
          </a:p>
          <a:p>
            <a:pPr marL="38096">
              <a:spcBef>
                <a:spcPts val="100"/>
              </a:spcBef>
              <a:tabLst>
                <a:tab pos="1686391" algn="l"/>
              </a:tabLst>
            </a:pPr>
            <a:r>
              <a:rPr sz="650" spc="20" dirty="0">
                <a:solidFill>
                  <a:srgbClr val="6B7280"/>
                </a:solidFill>
                <a:latin typeface="Lucida Sans Unicode"/>
                <a:cs typeface="Lucida Sans Unicode"/>
              </a:rPr>
              <a:t>(Dépassement</a:t>
            </a:r>
            <a:r>
              <a:rPr sz="65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20" dirty="0">
                <a:solidFill>
                  <a:srgbClr val="6B7280"/>
                </a:solidFill>
                <a:latin typeface="Lucida Sans Unicode"/>
                <a:cs typeface="Lucida Sans Unicode"/>
              </a:rPr>
              <a:t>de</a:t>
            </a:r>
            <a:r>
              <a:rPr sz="650" spc="15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budget)</a:t>
            </a:r>
            <a:r>
              <a:rPr sz="650" dirty="0">
                <a:solidFill>
                  <a:srgbClr val="6B7280"/>
                </a:solidFill>
                <a:latin typeface="Lucida Sans Unicode"/>
                <a:cs typeface="Lucida Sans Unicode"/>
              </a:rPr>
              <a:t>	</a:t>
            </a:r>
            <a:r>
              <a:rPr sz="650" spc="30" dirty="0">
                <a:solidFill>
                  <a:srgbClr val="6B7280"/>
                </a:solidFill>
                <a:latin typeface="Lucida Sans Unicode"/>
                <a:cs typeface="Lucida Sans Unicode"/>
              </a:rPr>
              <a:t>(Manage</a:t>
            </a:r>
            <a:r>
              <a:rPr sz="650" spc="70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Budgets)</a:t>
            </a:r>
            <a:endParaRPr sz="650" dirty="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1028" y="2019000"/>
            <a:ext cx="409514" cy="135915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80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Visiteur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6100" y="4622113"/>
            <a:ext cx="868551" cy="135915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80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Utilisateur(User)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3501" y="7288718"/>
            <a:ext cx="1233622" cy="135915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80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Administrateur(Admin)</a:t>
            </a:r>
            <a:endParaRPr sz="800" dirty="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9110" y="5282415"/>
            <a:ext cx="623477" cy="105141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60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«spécialisation»</a:t>
            </a:r>
            <a:endParaRPr sz="6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02143" y="1214573"/>
            <a:ext cx="3321827" cy="9275973"/>
            <a:chOff x="200025" y="1214754"/>
            <a:chExt cx="3322320" cy="9277350"/>
          </a:xfrm>
        </p:grpSpPr>
        <p:sp>
          <p:nvSpPr>
            <p:cNvPr id="26" name="object 26"/>
            <p:cNvSpPr/>
            <p:nvPr/>
          </p:nvSpPr>
          <p:spPr>
            <a:xfrm>
              <a:off x="1092200" y="1219199"/>
              <a:ext cx="2425700" cy="736600"/>
            </a:xfrm>
            <a:custGeom>
              <a:avLst/>
              <a:gdLst/>
              <a:ahLst/>
              <a:cxnLst/>
              <a:rect l="l" t="t" r="r" b="b"/>
              <a:pathLst>
                <a:path w="2425700" h="736600">
                  <a:moveTo>
                    <a:pt x="0" y="139700"/>
                  </a:moveTo>
                  <a:lnTo>
                    <a:pt x="2425700" y="0"/>
                  </a:lnTo>
                </a:path>
                <a:path w="2425700" h="736600">
                  <a:moveTo>
                    <a:pt x="0" y="139700"/>
                  </a:moveTo>
                  <a:lnTo>
                    <a:pt x="2425700" y="736600"/>
                  </a:lnTo>
                </a:path>
              </a:pathLst>
            </a:custGeom>
            <a:ln w="8890">
              <a:solidFill>
                <a:srgbClr val="0890B1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92200" y="3962399"/>
              <a:ext cx="2425700" cy="4622800"/>
            </a:xfrm>
            <a:custGeom>
              <a:avLst/>
              <a:gdLst/>
              <a:ahLst/>
              <a:cxnLst/>
              <a:rect l="l" t="t" r="r" b="b"/>
              <a:pathLst>
                <a:path w="2425700" h="4622800">
                  <a:moveTo>
                    <a:pt x="0" y="0"/>
                  </a:moveTo>
                  <a:lnTo>
                    <a:pt x="939800" y="0"/>
                  </a:lnTo>
                </a:path>
                <a:path w="2425700" h="4622800">
                  <a:moveTo>
                    <a:pt x="939800" y="0"/>
                  </a:moveTo>
                  <a:lnTo>
                    <a:pt x="939800" y="1676400"/>
                  </a:lnTo>
                </a:path>
                <a:path w="2425700" h="4622800">
                  <a:moveTo>
                    <a:pt x="939800" y="1676400"/>
                  </a:moveTo>
                  <a:lnTo>
                    <a:pt x="2425700" y="1676400"/>
                  </a:lnTo>
                </a:path>
                <a:path w="2425700" h="4622800">
                  <a:moveTo>
                    <a:pt x="0" y="0"/>
                  </a:moveTo>
                  <a:lnTo>
                    <a:pt x="939800" y="0"/>
                  </a:lnTo>
                </a:path>
                <a:path w="2425700" h="4622800">
                  <a:moveTo>
                    <a:pt x="939800" y="0"/>
                  </a:moveTo>
                  <a:lnTo>
                    <a:pt x="939800" y="2413000"/>
                  </a:lnTo>
                </a:path>
                <a:path w="2425700" h="4622800">
                  <a:moveTo>
                    <a:pt x="939800" y="2413000"/>
                  </a:moveTo>
                  <a:lnTo>
                    <a:pt x="2425700" y="2413000"/>
                  </a:lnTo>
                </a:path>
                <a:path w="2425700" h="4622800">
                  <a:moveTo>
                    <a:pt x="0" y="0"/>
                  </a:moveTo>
                  <a:lnTo>
                    <a:pt x="939800" y="0"/>
                  </a:lnTo>
                </a:path>
                <a:path w="2425700" h="4622800">
                  <a:moveTo>
                    <a:pt x="939800" y="0"/>
                  </a:moveTo>
                  <a:lnTo>
                    <a:pt x="939800" y="3149600"/>
                  </a:lnTo>
                </a:path>
                <a:path w="2425700" h="4622800">
                  <a:moveTo>
                    <a:pt x="939800" y="3149600"/>
                  </a:moveTo>
                  <a:lnTo>
                    <a:pt x="2425700" y="3149600"/>
                  </a:lnTo>
                </a:path>
                <a:path w="2425700" h="4622800">
                  <a:moveTo>
                    <a:pt x="0" y="0"/>
                  </a:moveTo>
                  <a:lnTo>
                    <a:pt x="939800" y="0"/>
                  </a:lnTo>
                </a:path>
                <a:path w="2425700" h="4622800">
                  <a:moveTo>
                    <a:pt x="939800" y="0"/>
                  </a:moveTo>
                  <a:lnTo>
                    <a:pt x="939800" y="3886200"/>
                  </a:lnTo>
                </a:path>
                <a:path w="2425700" h="4622800">
                  <a:moveTo>
                    <a:pt x="939800" y="3886200"/>
                  </a:moveTo>
                  <a:lnTo>
                    <a:pt x="2425700" y="3886200"/>
                  </a:lnTo>
                </a:path>
                <a:path w="2425700" h="4622800">
                  <a:moveTo>
                    <a:pt x="0" y="0"/>
                  </a:moveTo>
                  <a:lnTo>
                    <a:pt x="939800" y="0"/>
                  </a:lnTo>
                </a:path>
                <a:path w="2425700" h="4622800">
                  <a:moveTo>
                    <a:pt x="939800" y="0"/>
                  </a:moveTo>
                  <a:lnTo>
                    <a:pt x="939800" y="4622800"/>
                  </a:lnTo>
                </a:path>
                <a:path w="2425700" h="4622800">
                  <a:moveTo>
                    <a:pt x="939800" y="4622800"/>
                  </a:moveTo>
                  <a:lnTo>
                    <a:pt x="2425700" y="4622800"/>
                  </a:lnTo>
                </a:path>
              </a:pathLst>
            </a:custGeom>
            <a:ln w="8890">
              <a:solidFill>
                <a:srgbClr val="246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92200" y="2692399"/>
              <a:ext cx="2425700" cy="3937000"/>
            </a:xfrm>
            <a:custGeom>
              <a:avLst/>
              <a:gdLst/>
              <a:ahLst/>
              <a:cxnLst/>
              <a:rect l="l" t="t" r="r" b="b"/>
              <a:pathLst>
                <a:path w="2425700" h="3937000">
                  <a:moveTo>
                    <a:pt x="0" y="3937000"/>
                  </a:moveTo>
                  <a:lnTo>
                    <a:pt x="863600" y="3937000"/>
                  </a:lnTo>
                </a:path>
                <a:path w="2425700" h="3937000">
                  <a:moveTo>
                    <a:pt x="863600" y="3937000"/>
                  </a:moveTo>
                  <a:lnTo>
                    <a:pt x="863600" y="0"/>
                  </a:lnTo>
                </a:path>
                <a:path w="2425700" h="3937000">
                  <a:moveTo>
                    <a:pt x="863600" y="0"/>
                  </a:moveTo>
                  <a:lnTo>
                    <a:pt x="2425700" y="0"/>
                  </a:lnTo>
                </a:path>
                <a:path w="2425700" h="3937000">
                  <a:moveTo>
                    <a:pt x="0" y="3937000"/>
                  </a:moveTo>
                  <a:lnTo>
                    <a:pt x="863600" y="3937000"/>
                  </a:lnTo>
                </a:path>
                <a:path w="2425700" h="3937000">
                  <a:moveTo>
                    <a:pt x="863600" y="3937000"/>
                  </a:moveTo>
                  <a:lnTo>
                    <a:pt x="863600" y="736600"/>
                  </a:lnTo>
                </a:path>
                <a:path w="2425700" h="3937000">
                  <a:moveTo>
                    <a:pt x="863600" y="736600"/>
                  </a:moveTo>
                  <a:lnTo>
                    <a:pt x="2425700" y="736600"/>
                  </a:lnTo>
                </a:path>
                <a:path w="2425700" h="3937000">
                  <a:moveTo>
                    <a:pt x="0" y="3937000"/>
                  </a:moveTo>
                  <a:lnTo>
                    <a:pt x="863600" y="3937000"/>
                  </a:lnTo>
                </a:path>
                <a:path w="2425700" h="3937000">
                  <a:moveTo>
                    <a:pt x="863600" y="3937000"/>
                  </a:moveTo>
                  <a:lnTo>
                    <a:pt x="863600" y="1473200"/>
                  </a:lnTo>
                </a:path>
                <a:path w="2425700" h="3937000">
                  <a:moveTo>
                    <a:pt x="863600" y="1473200"/>
                  </a:moveTo>
                  <a:lnTo>
                    <a:pt x="2425700" y="1473200"/>
                  </a:lnTo>
                </a:path>
                <a:path w="2425700" h="3937000">
                  <a:moveTo>
                    <a:pt x="0" y="3937000"/>
                  </a:moveTo>
                  <a:lnTo>
                    <a:pt x="863600" y="3937000"/>
                  </a:lnTo>
                </a:path>
                <a:path w="2425700" h="3937000">
                  <a:moveTo>
                    <a:pt x="863600" y="3937000"/>
                  </a:moveTo>
                  <a:lnTo>
                    <a:pt x="863600" y="2209800"/>
                  </a:lnTo>
                </a:path>
                <a:path w="2425700" h="3937000">
                  <a:moveTo>
                    <a:pt x="863600" y="2209800"/>
                  </a:moveTo>
                  <a:lnTo>
                    <a:pt x="2425700" y="2209800"/>
                  </a:lnTo>
                </a:path>
              </a:pathLst>
            </a:custGeom>
            <a:ln w="8890">
              <a:solidFill>
                <a:srgbClr val="7C3A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3200" y="8990200"/>
              <a:ext cx="1651000" cy="1498600"/>
            </a:xfrm>
            <a:custGeom>
              <a:avLst/>
              <a:gdLst/>
              <a:ahLst/>
              <a:cxnLst/>
              <a:rect l="l" t="t" r="r" b="b"/>
              <a:pathLst>
                <a:path w="1651000" h="1498600">
                  <a:moveTo>
                    <a:pt x="1549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1397000"/>
                  </a:lnTo>
                  <a:lnTo>
                    <a:pt x="7984" y="1436547"/>
                  </a:lnTo>
                  <a:lnTo>
                    <a:pt x="29757" y="1468842"/>
                  </a:lnTo>
                  <a:lnTo>
                    <a:pt x="62052" y="1490615"/>
                  </a:lnTo>
                  <a:lnTo>
                    <a:pt x="101600" y="1498600"/>
                  </a:lnTo>
                  <a:lnTo>
                    <a:pt x="1549400" y="1498600"/>
                  </a:lnTo>
                  <a:lnTo>
                    <a:pt x="1588947" y="1490615"/>
                  </a:lnTo>
                  <a:lnTo>
                    <a:pt x="1621242" y="1468842"/>
                  </a:lnTo>
                  <a:lnTo>
                    <a:pt x="1643015" y="1436547"/>
                  </a:lnTo>
                  <a:lnTo>
                    <a:pt x="1651000" y="1397000"/>
                  </a:lnTo>
                  <a:lnTo>
                    <a:pt x="1651000" y="101600"/>
                  </a:lnTo>
                  <a:lnTo>
                    <a:pt x="1643015" y="62052"/>
                  </a:lnTo>
                  <a:lnTo>
                    <a:pt x="1621242" y="29757"/>
                  </a:lnTo>
                  <a:lnTo>
                    <a:pt x="1588947" y="7984"/>
                  </a:lnTo>
                  <a:lnTo>
                    <a:pt x="1549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l" rtl="0"/>
              <a:endParaRPr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203200" y="8990200"/>
              <a:ext cx="1651000" cy="1498600"/>
            </a:xfrm>
            <a:custGeom>
              <a:avLst/>
              <a:gdLst/>
              <a:ahLst/>
              <a:cxnLst/>
              <a:rect l="l" t="t" r="r" b="b"/>
              <a:pathLst>
                <a:path w="1651000" h="1498600">
                  <a:moveTo>
                    <a:pt x="101600" y="1498600"/>
                  </a:moveTo>
                  <a:lnTo>
                    <a:pt x="1549400" y="1498600"/>
                  </a:lnTo>
                  <a:lnTo>
                    <a:pt x="1588947" y="1490615"/>
                  </a:lnTo>
                  <a:lnTo>
                    <a:pt x="1621242" y="1468842"/>
                  </a:lnTo>
                  <a:lnTo>
                    <a:pt x="1643015" y="1436547"/>
                  </a:lnTo>
                  <a:lnTo>
                    <a:pt x="1651000" y="1397000"/>
                  </a:lnTo>
                  <a:lnTo>
                    <a:pt x="1651000" y="101600"/>
                  </a:lnTo>
                  <a:lnTo>
                    <a:pt x="1643015" y="62052"/>
                  </a:lnTo>
                  <a:lnTo>
                    <a:pt x="1621242" y="29757"/>
                  </a:lnTo>
                  <a:lnTo>
                    <a:pt x="1588947" y="7984"/>
                  </a:lnTo>
                  <a:lnTo>
                    <a:pt x="1549400" y="0"/>
                  </a:lnTo>
                  <a:lnTo>
                    <a:pt x="101600" y="0"/>
                  </a:lnTo>
                  <a:lnTo>
                    <a:pt x="62052" y="7984"/>
                  </a:lnTo>
                  <a:lnTo>
                    <a:pt x="29757" y="29757"/>
                  </a:lnTo>
                  <a:lnTo>
                    <a:pt x="7984" y="62052"/>
                  </a:lnTo>
                  <a:lnTo>
                    <a:pt x="0" y="101600"/>
                  </a:lnTo>
                  <a:lnTo>
                    <a:pt x="0" y="1397000"/>
                  </a:lnTo>
                  <a:lnTo>
                    <a:pt x="7984" y="1436547"/>
                  </a:lnTo>
                  <a:lnTo>
                    <a:pt x="29757" y="1468842"/>
                  </a:lnTo>
                  <a:lnTo>
                    <a:pt x="62052" y="1490615"/>
                  </a:lnTo>
                  <a:lnTo>
                    <a:pt x="101600" y="1498600"/>
                  </a:lnTo>
                  <a:close/>
                </a:path>
              </a:pathLst>
            </a:custGeom>
            <a:ln w="635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20" y="9226419"/>
              <a:ext cx="213359" cy="1625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520" y="9455019"/>
              <a:ext cx="213359" cy="1625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0" y="9683619"/>
              <a:ext cx="213359" cy="1625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520" y="9912219"/>
              <a:ext cx="213359" cy="1625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0" y="10140819"/>
              <a:ext cx="213359" cy="16255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24356" y="8988503"/>
            <a:ext cx="734586" cy="1288224"/>
          </a:xfrm>
          <a:prstGeom prst="rect">
            <a:avLst/>
          </a:prstGeom>
        </p:spPr>
        <p:txBody>
          <a:bodyPr vert="horz" wrap="square" lIns="0" tIns="76189" rIns="0" bIns="0" rtlCol="0">
            <a:spAutoFit/>
          </a:bodyPr>
          <a:lstStyle/>
          <a:p>
            <a:pPr marL="184767">
              <a:spcBef>
                <a:spcPts val="600"/>
              </a:spcBef>
            </a:pPr>
            <a:r>
              <a:rPr sz="800" spc="-10" dirty="0">
                <a:solidFill>
                  <a:srgbClr val="111826"/>
                </a:solidFill>
                <a:latin typeface="Arial Black"/>
                <a:cs typeface="Arial Black"/>
              </a:rPr>
              <a:t>Légende</a:t>
            </a:r>
            <a:endParaRPr sz="800" dirty="0">
              <a:latin typeface="Arial Black"/>
              <a:cs typeface="Arial Black"/>
            </a:endParaRPr>
          </a:p>
          <a:p>
            <a:pPr marL="12699">
              <a:spcBef>
                <a:spcPts val="440"/>
              </a:spcBef>
            </a:pPr>
            <a:r>
              <a:rPr sz="70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Visiteur</a:t>
            </a:r>
            <a:endParaRPr sz="700" dirty="0">
              <a:latin typeface="Lucida Sans Unicode"/>
              <a:cs typeface="Lucida Sans Unicode"/>
            </a:endParaRPr>
          </a:p>
          <a:p>
            <a:pPr marL="12699" marR="5079">
              <a:lnSpc>
                <a:spcPct val="214299"/>
              </a:lnSpc>
            </a:pPr>
            <a:r>
              <a:rPr sz="70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Utilisateur Administrateur </a:t>
            </a:r>
            <a:r>
              <a:rPr sz="700" dirty="0">
                <a:solidFill>
                  <a:srgbClr val="111826"/>
                </a:solidFill>
                <a:latin typeface="Lucida Sans Unicode"/>
                <a:cs typeface="Lucida Sans Unicode"/>
              </a:rPr>
              <a:t>Include</a:t>
            </a:r>
            <a:r>
              <a:rPr sz="700" spc="1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0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/</a:t>
            </a:r>
            <a:r>
              <a:rPr sz="700" spc="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Extend </a:t>
            </a:r>
            <a:r>
              <a:rPr sz="700" dirty="0">
                <a:solidFill>
                  <a:srgbClr val="111826"/>
                </a:solidFill>
                <a:latin typeface="Lucida Sans Unicode"/>
                <a:cs typeface="Lucida Sans Unicode"/>
              </a:rPr>
              <a:t>Alerte</a:t>
            </a:r>
            <a:r>
              <a:rPr sz="700" spc="-3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0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budget</a:t>
            </a:r>
            <a:endParaRPr sz="7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124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Lucida Sans Unicode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HIBA DHAOUI</dc:creator>
  <cp:lastModifiedBy>HIBA DHAOUI</cp:lastModifiedBy>
  <cp:revision>1</cp:revision>
  <dcterms:created xsi:type="dcterms:W3CDTF">2026-06-02T07:13:15Z</dcterms:created>
  <dcterms:modified xsi:type="dcterms:W3CDTF">2026-06-02T07:17:03Z</dcterms:modified>
</cp:coreProperties>
</file>